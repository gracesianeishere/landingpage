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39712" cy="96743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39712" cy="967435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39712" cy="59436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8888"/>
                </a:solidFill>
                <a:latin typeface="Calibri"/>
              </a:rPr>
              <a:t>BRAND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33872" y="1645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8888"/>
                </a:solidFill>
                <a:latin typeface="Calibri"/>
              </a:rPr>
              <a:t>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502920" cy="777240"/>
          </a:xfrm>
          <a:prstGeom prst="rect">
            <a:avLst/>
          </a:prstGeom>
          <a:solidFill>
            <a:srgbClr val="A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3547872"/>
            <a:ext cx="246888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6656" y="3776472"/>
            <a:ext cx="246888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" y="3995927"/>
            <a:ext cx="246888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832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EDTAN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133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CCCCC"/>
                </a:solidFill>
                <a:latin typeface="Calibri"/>
              </a:rPr>
              <a:t>FOR FUN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3440"/>
            <a:ext cx="548640" cy="25400"/>
          </a:xfrm>
          <a:prstGeom prst="rect">
            <a:avLst/>
          </a:prstGeom>
          <a:solidFill>
            <a:srgbClr val="A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5742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AAAA"/>
                </a:solidFill>
                <a:latin typeface="Calibri"/>
              </a:rPr>
              <a:t>SOUTHEAST ASIA'S DESIGNER TOY &amp; COLLECTIBLE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57800"/>
            <a:ext cx="57424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Where Collectors</a:t>
            </a:r>
          </a:p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Meet Creators.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9037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A media and community platform dedicated to designer toys, sofubi, art toys, and collectible culture across Southeast Asia and beyond.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171432"/>
            <a:ext cx="6839712" cy="12700"/>
          </a:xfrm>
          <a:prstGeom prst="rect">
            <a:avLst/>
          </a:prstGeom>
          <a:solidFill>
            <a:srgbClr val="AA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9217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5555"/>
                </a:solidFill>
                <a:latin typeface="Calibri"/>
              </a:rPr>
              <a:t>CONFIDENTIAL · BRAND PROFILE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9217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5555"/>
                </a:solidFill>
                <a:latin typeface="Calibri"/>
              </a:rPr>
              <a:t>EdTan For Fun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39712" cy="9674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D0D0D"/>
                </a:solidFill>
                <a:latin typeface="Calibri"/>
              </a:rPr>
              <a:t>A platform built for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0D0D0D"/>
                </a:solidFill>
                <a:latin typeface="Calibri"/>
              </a:rPr>
              <a:t>stories as much as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0D0D0D"/>
                </a:solidFill>
                <a:latin typeface="Calibri"/>
              </a:rPr>
              <a:t>collectibles.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(Key words in red in final design)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86868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A3A3A"/>
                </a:solidFill>
                <a:latin typeface="Calibri"/>
              </a:rPr>
              <a:t>EdTan For Fun is a media and community platform dedicated to designer toys, sofubi, art toys, and collectible culture.
Through editorial storytelling, artist spotlights, event coverage, and community-driven initiatives, EdTan connects collectors, creators, and brands within a growing creative ecosystem.
More than showcasing collectibles, EdTan highlights the stories behind the artists, craftsmanship, and creative process that bring each piece to life — while helping emerging creators gain greater visibility within the global designer toy scene.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657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OUR 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38100" cy="6858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063240"/>
            <a:ext cx="55412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0D"/>
                </a:solidFill>
                <a:latin typeface="Calibri"/>
              </a:rPr>
              <a:t>To become one of Southeast Asia's leading platforms for designer toys and collectible culture — connecting collectors, creators, communities, and brands through meaningful creative initiatives.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742432" cy="896112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38100" cy="89611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90672"/>
            <a:ext cx="5468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0D0D"/>
                </a:solidFill>
                <a:latin typeface="Calibri"/>
              </a:rPr>
              <a:t>To become one of Southeast Asia's leading platforms for designer toys and collectible culture — connecting collectors, creators, communities, and brands through meaningful creative initiatives.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69080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3657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OUR MISSION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63872"/>
            <a:ext cx="88900" cy="889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462272"/>
            <a:ext cx="5742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Connecting collectors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93640"/>
            <a:ext cx="88900" cy="889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892040"/>
            <a:ext cx="5742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Empowering creators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23408"/>
            <a:ext cx="88900" cy="889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321808"/>
            <a:ext cx="5742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Growing collectible culture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9262872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92903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EDTAN FOR FUN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92903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39712" cy="9674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5742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D0D"/>
                </a:solidFill>
                <a:latin typeface="Calibri"/>
              </a:rPr>
              <a:t>Three Pillars.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0D0D0D"/>
                </a:solidFill>
                <a:latin typeface="Calibri"/>
              </a:rPr>
              <a:t>One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5742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EdTan operates across three interconnected disciplines — editorial media, community building, and creative initiatives — each reinforcing the other.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76272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8227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01 — EDITORIAL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776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0D"/>
                </a:solidFill>
                <a:latin typeface="Calibri"/>
              </a:rPr>
              <a:t>Original Content &amp; Storytelling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776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We create editorial content that goes beyond product promotion — focusing on the artists, the craft, and the culture that define the designer toy world.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69740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206240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Designer Toy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25772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462272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Artist Spotlights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81804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718304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Collection Highlights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37836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974336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Industry News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93868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230368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Event 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549900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486400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Product Reviews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2784" y="2176272"/>
            <a:ext cx="12700" cy="50292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4224" y="2286000"/>
            <a:ext cx="18227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02 — COMMUNITY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4224" y="2560320"/>
            <a:ext cx="1776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0D"/>
                </a:solidFill>
                <a:latin typeface="Calibri"/>
              </a:rPr>
              <a:t>Connecting Collectors &amp; Creators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4224" y="3108960"/>
            <a:ext cx="1776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We foster an active community where collectors and creators connect, exchange ideas, and grow together through shared passion for the art form.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54224" y="4269740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18816" y="4206240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EdTanVerse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54224" y="4525772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18816" y="4462272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Collector Engagement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54224" y="4781804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18816" y="4718304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Creator Discovery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54224" y="5037836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18816" y="4974336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Community Discussions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6928" y="2176272"/>
            <a:ext cx="12700" cy="50292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8368" y="2286000"/>
            <a:ext cx="18227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03 — CREATIVE INITIATIVES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8368" y="2560320"/>
            <a:ext cx="1776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0D"/>
                </a:solidFill>
                <a:latin typeface="Calibri"/>
              </a:rPr>
              <a:t>Empowering Emerging Artists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8368" y="3108960"/>
            <a:ext cx="17769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EdTan continuously develops programs that encourage creativity and provide emerging artists and designers with platforms to reach wider audiences.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68368" y="4269740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32960" y="4206240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Design Competitions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68368" y="4525772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32960" y="4462272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Artist Collaborations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8368" y="4781804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32960" y="4718304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Creator Showcases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68368" y="5037836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32960" y="4974336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Workshops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68368" y="5293868"/>
            <a:ext cx="63500" cy="635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32960" y="5230368"/>
            <a:ext cx="163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Exhibitions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7205472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7333488"/>
            <a:ext cx="3657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CONTENT FOCUS AREAS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7571231"/>
            <a:ext cx="1211580" cy="256032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" y="7589520"/>
            <a:ext cx="12115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A3A"/>
                </a:solidFill>
                <a:latin typeface="Calibri"/>
              </a:rPr>
              <a:t>Designer Toys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51660" y="7571231"/>
            <a:ext cx="667512" cy="256032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4812" y="7589520"/>
            <a:ext cx="667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A3A"/>
                </a:solidFill>
                <a:latin typeface="Calibri"/>
              </a:rPr>
              <a:t>Sofubi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10612" y="7571231"/>
            <a:ext cx="822960" cy="256032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83764" y="758952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A3A"/>
                </a:solidFill>
                <a:latin typeface="Calibri"/>
              </a:rPr>
              <a:t>Art Toys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25012" y="7571231"/>
            <a:ext cx="1522476" cy="256032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98164" y="7589520"/>
            <a:ext cx="15224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A3A"/>
                </a:solidFill>
                <a:latin typeface="Calibri"/>
              </a:rPr>
              <a:t>Artist Spotlights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38928" y="7571231"/>
            <a:ext cx="1289304" cy="256032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2080" y="7589520"/>
            <a:ext cx="1289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A3A"/>
                </a:solidFill>
                <a:latin typeface="Calibri"/>
              </a:rPr>
              <a:t>Event Coverage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7571231"/>
            <a:ext cx="1056132" cy="256032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7589520"/>
            <a:ext cx="10561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A3A"/>
                </a:solidFill>
                <a:latin typeface="Calibri"/>
              </a:rPr>
              <a:t>Pop Culture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96212" y="7571231"/>
            <a:ext cx="1367028" cy="256032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69364" y="7589520"/>
            <a:ext cx="13670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A3A"/>
                </a:solidFill>
                <a:latin typeface="Calibri"/>
              </a:rPr>
              <a:t>Product Reviews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9262872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92903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EDTAN FOR FUN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16752" y="92903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39712" cy="9674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AUDIENCE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5742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D0D"/>
                </a:solidFill>
                <a:latin typeface="Calibri"/>
              </a:rPr>
              <a:t>Engaged. Niche.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0D0D0D"/>
                </a:solidFill>
                <a:latin typeface="Calibri"/>
              </a:rPr>
              <a:t>Growing.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5742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 highly targeted community with above-average engagement — every metric reflects a genuine, passionate audience rather than passive followers.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742432" cy="1143000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76272"/>
            <a:ext cx="12984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0000"/>
                </a:solidFill>
                <a:latin typeface="Calibri"/>
              </a:rPr>
              <a:t>1,214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Calibri"/>
              </a:rPr>
              <a:t>Instagram
Followers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4248" y="2103120"/>
            <a:ext cx="12700" cy="11430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1408" y="2176272"/>
            <a:ext cx="12984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0000"/>
                </a:solidFill>
                <a:latin typeface="Calibri"/>
              </a:rPr>
              <a:t>6.73%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743200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Calibri"/>
              </a:rPr>
              <a:t>Average
Engagement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9856" y="2103120"/>
            <a:ext cx="12700" cy="11430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2176272"/>
            <a:ext cx="12984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0000"/>
                </a:solidFill>
                <a:latin typeface="Calibri"/>
              </a:rPr>
              <a:t>4,821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743200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Calibri"/>
              </a:rPr>
              <a:t>Average Views
per Post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5464" y="2103120"/>
            <a:ext cx="12700" cy="11430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2624" y="2176272"/>
            <a:ext cx="12984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0000"/>
                </a:solidFill>
                <a:latin typeface="Calibri"/>
              </a:rPr>
              <a:t>15K+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2743200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Calibri"/>
              </a:rPr>
              <a:t>Top Post
Reach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01568"/>
            <a:ext cx="5742432" cy="54864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56432"/>
            <a:ext cx="5559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A 6.73% engagement rate sits well above the typical Instagram benchmark of 1–3%, reflecting a highly active and invested community rather than passive follower counts.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33087"/>
            <a:ext cx="3657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AVERAGE PERFORMANCE PER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074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3A3A3A"/>
                </a:solidFill>
                <a:latin typeface="Calibri"/>
              </a:rPr>
              <a:t>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4483608"/>
            <a:ext cx="4114800" cy="101600"/>
          </a:xfrm>
          <a:prstGeom prst="rect">
            <a:avLst/>
          </a:prstGeom>
          <a:solidFill>
            <a:srgbClr val="ED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0" y="4483608"/>
            <a:ext cx="4114800" cy="1016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440740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Calibri"/>
              </a:rPr>
              <a:t>4,821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914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3A3A3A"/>
                </a:solidFill>
                <a:latin typeface="Calibri"/>
              </a:rPr>
              <a:t>Engagements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4867656"/>
            <a:ext cx="4114800" cy="101600"/>
          </a:xfrm>
          <a:prstGeom prst="rect">
            <a:avLst/>
          </a:prstGeom>
          <a:solidFill>
            <a:srgbClr val="ED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45920" y="4867656"/>
            <a:ext cx="69988" cy="1016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479145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Calibri"/>
              </a:rPr>
              <a:t>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755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3A3A3A"/>
                </a:solidFill>
                <a:latin typeface="Calibri"/>
              </a:rPr>
              <a:t>Likes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0" y="5251704"/>
            <a:ext cx="4114800" cy="101600"/>
          </a:xfrm>
          <a:prstGeom prst="rect">
            <a:avLst/>
          </a:prstGeom>
          <a:solidFill>
            <a:srgbClr val="ED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45920" y="5251704"/>
            <a:ext cx="65720" cy="1016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517550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Calibri"/>
              </a:rPr>
              <a:t>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595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3A3A3A"/>
                </a:solidFill>
                <a:latin typeface="Calibri"/>
              </a:rPr>
              <a:t>Comments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5635752"/>
            <a:ext cx="4114800" cy="101600"/>
          </a:xfrm>
          <a:prstGeom prst="rect">
            <a:avLst/>
          </a:prstGeom>
          <a:solidFill>
            <a:srgbClr val="ED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5920" y="5635752"/>
            <a:ext cx="36576" cy="1016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555955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Calibri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9262872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92903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EDTAN FOR FUN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752" y="92903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39712" cy="9674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AUDIENCE DEMOGRAPHICS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5742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D0D"/>
                </a:solidFill>
                <a:latin typeface="Calibri"/>
              </a:rPr>
              <a:t>Who Is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0D0D0D"/>
                </a:solidFill>
                <a:latin typeface="Calibri"/>
              </a:rPr>
              <a:t>Our Audience?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GENDER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84831"/>
            <a:ext cx="1005840" cy="1005840"/>
          </a:xfrm>
          <a:prstGeom prst="rect">
            <a:avLst/>
          </a:prstGeom>
          <a:solidFill>
            <a:srgbClr val="ED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130552"/>
            <a:ext cx="914400" cy="5486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1762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0000"/>
                </a:solidFill>
                <a:latin typeface="Calibri"/>
              </a:rPr>
              <a:t>85%
Male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56788"/>
            <a:ext cx="127000" cy="127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18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Male  85.2%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49396"/>
            <a:ext cx="127000" cy="127000"/>
          </a:xfrm>
          <a:prstGeom prst="rect">
            <a:avLst/>
          </a:prstGeom>
          <a:solidFill>
            <a:srgbClr val="D9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11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Calibri"/>
              </a:rPr>
              <a:t>Female  14.8%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2743200" cy="50292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9417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3A3A"/>
                </a:solidFill>
                <a:latin typeface="Calibri"/>
              </a:rPr>
              <a:t>Predominantly male audience consistent with global designer toy collector communities.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78308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AGE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084831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35–44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173731"/>
            <a:ext cx="2011680" cy="88900"/>
          </a:xfrm>
          <a:prstGeom prst="rect">
            <a:avLst/>
          </a:prstGeom>
          <a:solidFill>
            <a:srgbClr val="ED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173731"/>
            <a:ext cx="2011680" cy="889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084831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Calibri"/>
              </a:rPr>
              <a:t>39.1%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404871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25–34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493771"/>
            <a:ext cx="2011680" cy="88900"/>
          </a:xfrm>
          <a:prstGeom prst="rect">
            <a:avLst/>
          </a:prstGeom>
          <a:solidFill>
            <a:srgbClr val="ED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2493771"/>
            <a:ext cx="1790446" cy="88900"/>
          </a:xfrm>
          <a:prstGeom prst="rect">
            <a:avLst/>
          </a:prstGeom>
          <a:solidFill>
            <a:srgbClr val="C4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2404871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Calibri"/>
              </a:rPr>
              <a:t>34.8%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724911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45–54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2813811"/>
            <a:ext cx="2011680" cy="88900"/>
          </a:xfrm>
          <a:prstGeom prst="rect">
            <a:avLst/>
          </a:prstGeom>
          <a:solidFill>
            <a:srgbClr val="ED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2813811"/>
            <a:ext cx="838628" cy="88900"/>
          </a:xfrm>
          <a:prstGeom prst="rect">
            <a:avLst/>
          </a:prstGeom>
          <a:solidFill>
            <a:srgbClr val="D9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2" y="2724911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Calibri"/>
              </a:rPr>
              <a:t>16.3%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044951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18–24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133851"/>
            <a:ext cx="2011680" cy="88900"/>
          </a:xfrm>
          <a:prstGeom prst="rect">
            <a:avLst/>
          </a:prstGeom>
          <a:solidFill>
            <a:srgbClr val="ED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3133851"/>
            <a:ext cx="308697" cy="88900"/>
          </a:xfrm>
          <a:prstGeom prst="rect">
            <a:avLst/>
          </a:prstGeom>
          <a:solidFill>
            <a:srgbClr val="E8C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3044951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Calibri"/>
              </a:rPr>
              <a:t>6.0%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364991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Others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453891"/>
            <a:ext cx="2011680" cy="88900"/>
          </a:xfrm>
          <a:prstGeom prst="rect">
            <a:avLst/>
          </a:prstGeom>
          <a:solidFill>
            <a:srgbClr val="ED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0" y="3453891"/>
            <a:ext cx="195508" cy="88900"/>
          </a:xfrm>
          <a:prstGeom prst="rect">
            <a:avLst/>
          </a:prstGeom>
          <a:solidFill>
            <a:srgbClr val="F0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3364991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Calibri"/>
              </a:rPr>
              <a:t>3.8%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3657600"/>
            <a:ext cx="3246120" cy="50292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369417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3A3A"/>
                </a:solidFill>
                <a:latin typeface="Calibri"/>
              </a:rPr>
              <a:t>More than 90% of our audience falls within the 25–54 age group — a mature, financially established community with deep investment in collectible culture.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343400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480560"/>
            <a:ext cx="5742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GEOGRAPHIC REACH — TOP MARKETS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663440"/>
            <a:ext cx="1057046" cy="685800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681728"/>
            <a:ext cx="105704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0D0D"/>
                </a:solidFill>
                <a:latin typeface="Segoe UI Emoji"/>
              </a:rPr>
              <a:t>🇮🇩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010912"/>
            <a:ext cx="10570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A3A3A"/>
                </a:solidFill>
                <a:latin typeface="Calibri"/>
              </a:rPr>
              <a:t>Indonesia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42846" y="4663440"/>
            <a:ext cx="1057046" cy="685800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42846" y="4681728"/>
            <a:ext cx="105704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0D0D"/>
                </a:solidFill>
                <a:latin typeface="Segoe UI Emoji"/>
              </a:rPr>
              <a:t>🇵🇭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42846" y="5010912"/>
            <a:ext cx="10570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A3A3A"/>
                </a:solidFill>
                <a:latin typeface="Calibri"/>
              </a:rPr>
              <a:t>Philippines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91332" y="4663440"/>
            <a:ext cx="1057046" cy="685800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91332" y="4681728"/>
            <a:ext cx="105704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0D0D"/>
                </a:solidFill>
                <a:latin typeface="Segoe UI Emoji"/>
              </a:rPr>
              <a:t>🇹🇼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91332" y="5010912"/>
            <a:ext cx="10570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A3A3A"/>
                </a:solidFill>
                <a:latin typeface="Calibri"/>
              </a:rPr>
              <a:t>Taiwan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39819" y="4663440"/>
            <a:ext cx="1057046" cy="685800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39819" y="4681728"/>
            <a:ext cx="105704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0D0D"/>
                </a:solidFill>
                <a:latin typeface="Segoe UI Emoji"/>
              </a:rPr>
              <a:t>🇭🇰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9819" y="5010912"/>
            <a:ext cx="10570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A3A3A"/>
                </a:solidFill>
                <a:latin typeface="Calibri"/>
              </a:rPr>
              <a:t>Hong Kong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88305" y="4663440"/>
            <a:ext cx="1057046" cy="685800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8305" y="4681728"/>
            <a:ext cx="105704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0D0D"/>
                </a:solidFill>
                <a:latin typeface="Segoe UI Emoji"/>
              </a:rPr>
              <a:t>🇹🇭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88305" y="5010912"/>
            <a:ext cx="105704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A3A3A"/>
                </a:solidFill>
                <a:latin typeface="Calibri"/>
              </a:rPr>
              <a:t>Thailand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504688"/>
            <a:ext cx="5742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As EdTan publishes primarily in English, our content reaches collectors and creators beyond Indonesia — connecting us with a broader international audience across the Asia-Pacific region.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9262872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92903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EDTAN FOR FUN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16752" y="92903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39712" cy="9674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39712" cy="2926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4444"/>
                </a:solidFill>
                <a:latin typeface="Calibri"/>
              </a:rPr>
              <a:t>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57424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Why Partner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With EdTan?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Partnering with EdTan means reaching a highly targeted audience that genuinely appreciates creativity, craftsmanship, and collectible culture — through authentic editorial storytelling rather than conventional advertising.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10128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00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35808"/>
            <a:ext cx="5358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Calibri"/>
              </a:rPr>
              <a:t>Highly Targeted Collectible 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36976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A community built around genuine passion — not casual interest. Every follower has a reason to be 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85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000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657600"/>
            <a:ext cx="5358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Calibri"/>
              </a:rPr>
              <a:t>Strong Niche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858768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A 6.73% average engagement rate demonstrates a community that actively participates, not just passively scrolls.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53712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30682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000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79392"/>
            <a:ext cx="5358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Calibri"/>
              </a:rPr>
              <a:t>Editorial-First Storytelling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480560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Content that feels authentic because it is — collaborations are shaped around stories, not ad slots.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75504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2861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0000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901184"/>
            <a:ext cx="5358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Calibri"/>
              </a:rPr>
              <a:t>English-First, Regionally Rooted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102352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English-language content that naturally connects brands to audiences across Southeast Asia and beyond.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97296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5504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0000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522976"/>
            <a:ext cx="5358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Calibri"/>
              </a:rPr>
              <a:t>Trusted Platform for the 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72414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A recognized voice within the designer toy and collectible enthusiast space — credibility built over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9262872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92903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EDTAN FOR FUN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92903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39712" cy="9674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PREVIOUS COLLABORATIONS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5742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D0D"/>
                </a:solidFill>
                <a:latin typeface="Calibri"/>
              </a:rPr>
              <a:t>Brands We've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0D0D0D"/>
                </a:solidFill>
                <a:latin typeface="Calibri"/>
              </a:rPr>
              <a:t>Worked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EdTan has collaborated with and featured various brands and key industry players across the designer toy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29968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84831"/>
            <a:ext cx="2871216" cy="658368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77439"/>
            <a:ext cx="101600" cy="1016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04287"/>
            <a:ext cx="2368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0D"/>
                </a:solidFill>
                <a:latin typeface="Calibri"/>
              </a:rPr>
              <a:t>Amazing Toy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9856" y="2084831"/>
            <a:ext cx="2871216" cy="658368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48456" y="2377439"/>
            <a:ext cx="101600" cy="1016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2304287"/>
            <a:ext cx="2368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0D"/>
                </a:solidFill>
                <a:latin typeface="Calibri"/>
              </a:rPr>
              <a:t>Unbox Industries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199"/>
            <a:ext cx="2871216" cy="658368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035807"/>
            <a:ext cx="101600" cy="1016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962655"/>
            <a:ext cx="2368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0D"/>
                </a:solidFill>
                <a:latin typeface="Calibri"/>
              </a:rPr>
              <a:t>ThePrjctPlayground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9856" y="2743199"/>
            <a:ext cx="2871216" cy="658368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48456" y="3035807"/>
            <a:ext cx="101600" cy="1016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58768" y="2962655"/>
            <a:ext cx="2368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0D"/>
                </a:solidFill>
                <a:latin typeface="Calibri"/>
              </a:rPr>
              <a:t>ERON Collects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20440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5742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BRAND HIGHLIGHTS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50208"/>
            <a:ext cx="2802636" cy="9144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59936"/>
            <a:ext cx="25740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Built EdTanVerse — a growing community space dedicated to designer toy and collectible enthusiasts.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88436" y="3950208"/>
            <a:ext cx="2802636" cy="9144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5596" y="4059936"/>
            <a:ext cx="25740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Event coverage consistently generates strong engagement, with top-performing posts reaching 10K–15K+ views.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74336"/>
            <a:ext cx="2802636" cy="9144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84064"/>
            <a:ext cx="25740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Recognized for delivering editorial content focused on artists, collectible stories, and industry events.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88436" y="4974336"/>
            <a:ext cx="2802636" cy="9144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25596" y="5084064"/>
            <a:ext cx="25740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A3A"/>
                </a:solidFill>
                <a:latin typeface="Calibri"/>
              </a:rPr>
              <a:t>Continues to expand its role beyond media through community initiatives and creator-focused programs.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9262872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92903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EDTAN FOR FUN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92903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39712" cy="9674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0000"/>
                </a:solidFill>
                <a:latin typeface="Calibri"/>
              </a:rPr>
              <a:t>LET'S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5742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0D0D"/>
                </a:solidFill>
                <a:latin typeface="Calibri"/>
              </a:rPr>
              <a:t>Ideal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0D0D0D"/>
                </a:solidFill>
                <a:latin typeface="Calibri"/>
              </a:rPr>
              <a:t>Collaboration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5742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EdTan is open to partnerships with any brand, studio, creator, or organization that shares a genuine connection to the designer toy and creative collectible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21408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21408"/>
            <a:ext cx="2871216" cy="475488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22576"/>
            <a:ext cx="88900" cy="889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49424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Calibri"/>
              </a:rPr>
              <a:t>Designer Toy Brands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9856" y="2121408"/>
            <a:ext cx="2871216" cy="475488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2736" y="2322576"/>
            <a:ext cx="88900" cy="889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2249424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Calibri"/>
              </a:rPr>
              <a:t>Sofubi Studios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96896"/>
            <a:ext cx="2871216" cy="475488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798064"/>
            <a:ext cx="88900" cy="889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24912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Calibri"/>
              </a:rPr>
              <a:t>Art Toy Creators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9856" y="2596896"/>
            <a:ext cx="2871216" cy="475488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2736" y="2798064"/>
            <a:ext cx="88900" cy="889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03904" y="2724912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Calibri"/>
              </a:rPr>
              <a:t>Toy Conventions &amp; Events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72384"/>
            <a:ext cx="2871216" cy="475488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273552"/>
            <a:ext cx="88900" cy="889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20040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Calibri"/>
              </a:rPr>
              <a:t>Collectible Retailers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19856" y="3072384"/>
            <a:ext cx="2871216" cy="475488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02736" y="3273552"/>
            <a:ext cx="88900" cy="889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3904" y="3200400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Calibri"/>
              </a:rPr>
              <a:t>Creative Lifestyle Brands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47872"/>
            <a:ext cx="2871216" cy="475488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749040"/>
            <a:ext cx="88900" cy="889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675888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Calibri"/>
              </a:rPr>
              <a:t>Art Galleries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19856" y="3547872"/>
            <a:ext cx="2871216" cy="475488"/>
          </a:xfrm>
          <a:prstGeom prst="rect">
            <a:avLst/>
          </a:prstGeom>
          <a:noFill/>
          <a:ln w="12700">
            <a:solidFill>
              <a:srgbClr val="D9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02736" y="3749040"/>
            <a:ext cx="88900" cy="889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03904" y="3675888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Calibri"/>
              </a:rPr>
              <a:t>Pop Culture &amp; Creative Communities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89320"/>
            <a:ext cx="5742432" cy="3127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263640"/>
            <a:ext cx="5742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C8888"/>
                </a:solidFill>
                <a:latin typeface="Calibri"/>
              </a:rPr>
              <a:t>LOOKING FORWARD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6710680"/>
            <a:ext cx="88900" cy="8890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6583680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Connecting collectors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7122160"/>
            <a:ext cx="88900" cy="8890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6995160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Empowering creators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7533640"/>
            <a:ext cx="88900" cy="88900"/>
          </a:xfrm>
          <a:prstGeom prst="rect">
            <a:avLst/>
          </a:prstGeom>
          <a:solidFill>
            <a:srgbClr val="CC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7406640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Growing collectible culture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7909560"/>
            <a:ext cx="52852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AAAA"/>
                </a:solidFill>
                <a:latin typeface="Calibri"/>
              </a:rPr>
              <a:t>EdTan For Fun is committed to growing beyond a media platform — developing initiatives that empower creators, strengthen communities, and expand the designer toy ecosystem across Southeast Asia and beyond.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9262872"/>
            <a:ext cx="5742432" cy="12700"/>
          </a:xfrm>
          <a:prstGeom prst="rect">
            <a:avLst/>
          </a:prstGeom>
          <a:solidFill>
            <a:srgbClr val="D9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92903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B"/>
                </a:solidFill>
                <a:latin typeface="Calibri"/>
              </a:rPr>
              <a:t>EDTAN FOR FUN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6752" y="92903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